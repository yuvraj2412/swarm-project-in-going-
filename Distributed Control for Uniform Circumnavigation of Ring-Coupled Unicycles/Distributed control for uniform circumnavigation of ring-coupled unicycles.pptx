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07_2BE50AE3.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63" r:id="rId4"/>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469DD237-FDA6-E5FE-B3F4-65F5B6C70F11}" name="Yuvraj Tomar" initials="YT" userId="4d28967d5e19439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235" autoAdjust="0"/>
  </p:normalViewPr>
  <p:slideViewPr>
    <p:cSldViewPr snapToGrid="0">
      <p:cViewPr varScale="1">
        <p:scale>
          <a:sx n="73" d="100"/>
          <a:sy n="73" d="100"/>
        </p:scale>
        <p:origin x="10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omments/modernComment_107_2BE50AE3.xml><?xml version="1.0" encoding="utf-8"?>
<p188:cmLst xmlns:a="http://schemas.openxmlformats.org/drawingml/2006/main" xmlns:r="http://schemas.openxmlformats.org/officeDocument/2006/relationships" xmlns:p188="http://schemas.microsoft.com/office/powerpoint/2018/8/main">
  <p188:cm id="{EC01D18B-B762-47F8-A7D8-547DB33E367E}" authorId="{469DD237-FDA6-E5FE-B3F4-65F5B6C70F11}" created="2026-02-11T16:57:37.178">
    <ac:deMkLst xmlns:ac="http://schemas.microsoft.com/office/drawing/2013/main/command">
      <pc:docMk xmlns:pc="http://schemas.microsoft.com/office/powerpoint/2013/main/command"/>
      <pc:sldMk xmlns:pc="http://schemas.microsoft.com/office/powerpoint/2013/main/command" cId="736430819" sldId="263"/>
      <ac:picMk id="5" creationId="{AD49C0BB-9FD9-E114-EE25-EDA4CAD8920D}"/>
    </ac:deMkLst>
    <p188:txBody>
      <a:bodyPr/>
      <a:lstStyle/>
      <a:p>
        <a:r>
          <a:rPr lang="en-IN"/>
          <a:t>1.Instead of proving stability only for certain equilibria or under small perturbations, one would want to show that all possible trajectories of the system converge to the desired collective behavior, regardless of initial conditions (within reasonable assumptions).
2.We’ve shown rendezvous with undirected graphs before. If we now combine undirected ring coupling with pursuit of the target and neighbor repulsion, we should get a stable circular formation. That’s an interesting extension to explore.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A4514F-F311-4C12-94B7-10D0898622DC}"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C9C6E6-BAFF-4ED2-B283-389A3C51D7E8}" type="slidenum">
              <a:rPr lang="en-IN" smtClean="0"/>
              <a:t>‹#›</a:t>
            </a:fld>
            <a:endParaRPr lang="en-IN"/>
          </a:p>
        </p:txBody>
      </p:sp>
    </p:spTree>
    <p:extLst>
      <p:ext uri="{BB962C8B-B14F-4D97-AF65-F5344CB8AC3E}">
        <p14:creationId xmlns:p14="http://schemas.microsoft.com/office/powerpoint/2010/main" val="2226374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C9C6E6-BAFF-4ED2-B283-389A3C51D7E8}" type="slidenum">
              <a:rPr lang="en-IN" smtClean="0"/>
              <a:t>2</a:t>
            </a:fld>
            <a:endParaRPr lang="en-IN"/>
          </a:p>
        </p:txBody>
      </p:sp>
    </p:spTree>
    <p:extLst>
      <p:ext uri="{BB962C8B-B14F-4D97-AF65-F5344CB8AC3E}">
        <p14:creationId xmlns:p14="http://schemas.microsoft.com/office/powerpoint/2010/main" val="4044374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1.Instead of proving stability only for certain equilibria or under small perturbations, one would want to show that all possible trajectories of the system converge to the desired collective behavior, regardless of initial conditions (within reasonable assumptions).</a:t>
            </a:r>
            <a:br>
              <a:rPr lang="en-US" sz="1200" kern="1200" dirty="0">
                <a:solidFill>
                  <a:schemeClr val="tx1"/>
                </a:solidFill>
                <a:effectLst/>
                <a:latin typeface="+mn-lt"/>
                <a:ea typeface="+mn-ea"/>
                <a:cs typeface="+mn-cs"/>
              </a:rPr>
            </a:b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2.We’ve shown rendezvous with undirected graphs before. If we now combine undirected ring coupling with pursuit of the target and neighbor repulsion, we should get a stable circular formation. That’s an interesting extension to explore.</a:t>
            </a:r>
          </a:p>
          <a:p>
            <a:endParaRPr lang="en-IN" dirty="0"/>
          </a:p>
        </p:txBody>
      </p:sp>
      <p:sp>
        <p:nvSpPr>
          <p:cNvPr id="4" name="Slide Number Placeholder 3"/>
          <p:cNvSpPr>
            <a:spLocks noGrp="1"/>
          </p:cNvSpPr>
          <p:nvPr>
            <p:ph type="sldNum" sz="quarter" idx="5"/>
          </p:nvPr>
        </p:nvSpPr>
        <p:spPr/>
        <p:txBody>
          <a:bodyPr/>
          <a:lstStyle/>
          <a:p>
            <a:fld id="{5EC9C6E6-BAFF-4ED2-B283-389A3C51D7E8}" type="slidenum">
              <a:rPr lang="en-IN" smtClean="0"/>
              <a:t>3</a:t>
            </a:fld>
            <a:endParaRPr lang="en-IN"/>
          </a:p>
        </p:txBody>
      </p:sp>
    </p:spTree>
    <p:extLst>
      <p:ext uri="{BB962C8B-B14F-4D97-AF65-F5344CB8AC3E}">
        <p14:creationId xmlns:p14="http://schemas.microsoft.com/office/powerpoint/2010/main" val="22378013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C14A-51F3-5831-E84E-AC79368F78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C0CBB88-C438-CCF5-6432-9D6F4286ED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2B20941-90C4-479F-99BE-48C02D877E6E}"/>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A0BDD819-7CBA-07E6-B896-AD1F4AF0F9B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2B82E0-3EDA-7B63-687F-C6DD0C37961E}"/>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2870155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8FC5E-D614-61B9-F755-17759CD87A0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0135FA-490D-B531-482B-0A07AEE3E7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5C5C5B-6FC8-D3AA-520C-934B1AD7A2C0}"/>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53BDAEAD-06CE-D4FD-1D76-194F026BC0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39F09A-48B0-75CF-1602-BFB3FC3FFA46}"/>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4078367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47DBD-DB7F-060F-E9C6-C2D519FA05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28831E-0808-311E-DE2B-24461BE1F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2B750F-D1D7-2086-FB45-1219DE434555}"/>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BC0E1546-FD62-2733-303C-BB4C9DF963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774BF5-A3C8-E5F5-590C-7D4678FB6AA4}"/>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1273628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CB7F8-BC0C-2276-A8A2-210A5D393CD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E6AB30-5621-A525-19A7-356B17710E5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0D7691-DC30-4D65-301C-33D157BC45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DE59C-D0D2-F6E9-4A87-D5CADEE5B72C}"/>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6" name="Footer Placeholder 5">
            <a:extLst>
              <a:ext uri="{FF2B5EF4-FFF2-40B4-BE49-F238E27FC236}">
                <a16:creationId xmlns:a16="http://schemas.microsoft.com/office/drawing/2014/main" id="{386A20C7-B04F-9103-4503-BFF44538CC7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507B21-59B1-48DC-836F-F161B630148E}"/>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1320583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B86F-005E-B757-09BC-ED2426D577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4F5813-9F64-9E00-1C00-5FA22B939D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F18527-3C7B-CF90-5318-815445B4AC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E046F88-C6AE-7E9F-1473-3683D21D65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F9A424-3CB1-A6CF-A1E4-64A677144D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118B4B8-BED2-ED73-A7F1-CE519A1A55D1}"/>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8" name="Footer Placeholder 7">
            <a:extLst>
              <a:ext uri="{FF2B5EF4-FFF2-40B4-BE49-F238E27FC236}">
                <a16:creationId xmlns:a16="http://schemas.microsoft.com/office/drawing/2014/main" id="{DFF82C3B-A7B0-5F33-3420-FE915562F47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B88323C-ACE8-4C80-511F-F8571136ED53}"/>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1811712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91C2E-C6AC-34EA-0683-3BD0F1CF4F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5CE9E54-578C-F01B-E6A3-53599A14B3C9}"/>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4" name="Footer Placeholder 3">
            <a:extLst>
              <a:ext uri="{FF2B5EF4-FFF2-40B4-BE49-F238E27FC236}">
                <a16:creationId xmlns:a16="http://schemas.microsoft.com/office/drawing/2014/main" id="{099B3D99-A443-B048-35B8-AD0B674383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F7AE000-5E04-2C99-A44C-800603F77BDF}"/>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2036759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D18F3B-D354-A610-000D-756DC5CFA192}"/>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3" name="Footer Placeholder 2">
            <a:extLst>
              <a:ext uri="{FF2B5EF4-FFF2-40B4-BE49-F238E27FC236}">
                <a16:creationId xmlns:a16="http://schemas.microsoft.com/office/drawing/2014/main" id="{505D461A-91DC-CD48-09E5-40B2276D67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D4F925-9A42-13E4-E19B-1DD32CA057D8}"/>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2295222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3F3D-0393-715C-A91E-BA1F98BB49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93CBA1-AC5E-00CD-6996-DA309DC300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8A26AE2-3FCD-DF88-0466-9C1DCDE1BC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6E46E5-7170-539F-DD35-1064CC9AC903}"/>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6" name="Footer Placeholder 5">
            <a:extLst>
              <a:ext uri="{FF2B5EF4-FFF2-40B4-BE49-F238E27FC236}">
                <a16:creationId xmlns:a16="http://schemas.microsoft.com/office/drawing/2014/main" id="{29D6DF57-8EA1-54E6-D430-B20DD1F0D0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CFD8E00-2131-0C5C-B99F-2A34409219A8}"/>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2190475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31BB-983B-9411-0868-B1445AF471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86CA69-A3B1-556F-A66F-88C6B2EF13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BE20950-63A1-7629-B19D-C1F529852D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C79764-5133-EFAC-273E-7F8863B7441B}"/>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6" name="Footer Placeholder 5">
            <a:extLst>
              <a:ext uri="{FF2B5EF4-FFF2-40B4-BE49-F238E27FC236}">
                <a16:creationId xmlns:a16="http://schemas.microsoft.com/office/drawing/2014/main" id="{F2830E88-C6D2-213D-91D7-AAE70BF78E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EC80E-BD7B-E9A1-ACC3-59C52AE6FE36}"/>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21344094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9F452-DDBA-A369-A239-43C5DA5967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29F7D7-2F05-BD92-5269-83AE04ECF6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7A892D-664E-5F75-9EFC-C001164D435A}"/>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4AFA1873-50BB-9471-2CCE-22F52E1350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48641-9B72-AFC6-7DCD-E691DCA4D7EC}"/>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1231754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E2D2F5-7E6E-744C-13BA-90EDB4B9C6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6466DAD-6EBC-29D9-B1C3-D83AB7A496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327911-4EAB-815B-2C8F-6CDA79BDD815}"/>
              </a:ext>
            </a:extLst>
          </p:cNvPr>
          <p:cNvSpPr>
            <a:spLocks noGrp="1"/>
          </p:cNvSpPr>
          <p:nvPr>
            <p:ph type="dt" sz="half" idx="10"/>
          </p:nvPr>
        </p:nvSpPr>
        <p:spPr/>
        <p:txBody>
          <a:body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5BB9A942-D962-5FBC-36C6-6E72BC6CC0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45D62E-82FA-8302-C0FD-8BF74510FE9F}"/>
              </a:ext>
            </a:extLst>
          </p:cNvPr>
          <p:cNvSpPr>
            <a:spLocks noGrp="1"/>
          </p:cNvSpPr>
          <p:nvPr>
            <p:ph type="sldNum" sz="quarter" idx="12"/>
          </p:nvPr>
        </p:nvSpPr>
        <p:spPr/>
        <p:txBody>
          <a:bodyPr/>
          <a:lstStyle/>
          <a:p>
            <a:fld id="{7FB44EE6-8472-4F05-9919-6A5D30717CBC}" type="slidenum">
              <a:rPr lang="en-IN" smtClean="0"/>
              <a:t>‹#›</a:t>
            </a:fld>
            <a:endParaRPr lang="en-IN"/>
          </a:p>
        </p:txBody>
      </p:sp>
    </p:spTree>
    <p:extLst>
      <p:ext uri="{BB962C8B-B14F-4D97-AF65-F5344CB8AC3E}">
        <p14:creationId xmlns:p14="http://schemas.microsoft.com/office/powerpoint/2010/main" val="521748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BD04BC-B726-F19E-25C6-4DEF999C68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A2A643-9E1A-1F66-D423-B8554C51D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289A25-7A6C-AA3A-F151-E766185DF4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48A428-8B51-46C0-91C0-86DE9CC6A4F7}" type="datetimeFigureOut">
              <a:rPr lang="en-IN" smtClean="0"/>
              <a:t>11-02-2026</a:t>
            </a:fld>
            <a:endParaRPr lang="en-IN"/>
          </a:p>
        </p:txBody>
      </p:sp>
      <p:sp>
        <p:nvSpPr>
          <p:cNvPr id="5" name="Footer Placeholder 4">
            <a:extLst>
              <a:ext uri="{FF2B5EF4-FFF2-40B4-BE49-F238E27FC236}">
                <a16:creationId xmlns:a16="http://schemas.microsoft.com/office/drawing/2014/main" id="{BC6D226B-C56E-2EAE-F9B7-4C6E1C4A9E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AECE45F-2802-C0D3-CF77-47B9BB592E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B44EE6-8472-4F05-9919-6A5D30717CBC}" type="slidenum">
              <a:rPr lang="en-IN" smtClean="0"/>
              <a:t>‹#›</a:t>
            </a:fld>
            <a:endParaRPr lang="en-IN"/>
          </a:p>
        </p:txBody>
      </p:sp>
    </p:spTree>
    <p:extLst>
      <p:ext uri="{BB962C8B-B14F-4D97-AF65-F5344CB8AC3E}">
        <p14:creationId xmlns:p14="http://schemas.microsoft.com/office/powerpoint/2010/main" val="3501462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7_2BE50AE3.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993BB-2102-4EB2-1712-4E1C943B8455}"/>
              </a:ext>
            </a:extLst>
          </p:cNvPr>
          <p:cNvSpPr>
            <a:spLocks noGrp="1"/>
          </p:cNvSpPr>
          <p:nvPr>
            <p:ph type="ctrTitle"/>
          </p:nvPr>
        </p:nvSpPr>
        <p:spPr>
          <a:xfrm>
            <a:off x="1524000" y="2062162"/>
            <a:ext cx="9144000" cy="2387600"/>
          </a:xfrm>
        </p:spPr>
        <p:txBody>
          <a:bodyPr>
            <a:normAutofit fontScale="90000"/>
          </a:bodyPr>
          <a:lstStyle/>
          <a:p>
            <a:r>
              <a:rPr lang="en-US" dirty="0"/>
              <a:t>Distributed control for uniform circumnavigation of ring-coupled unicycles✩</a:t>
            </a:r>
            <a:endParaRPr lang="en-IN" dirty="0"/>
          </a:p>
        </p:txBody>
      </p:sp>
    </p:spTree>
    <p:extLst>
      <p:ext uri="{BB962C8B-B14F-4D97-AF65-F5344CB8AC3E}">
        <p14:creationId xmlns:p14="http://schemas.microsoft.com/office/powerpoint/2010/main" val="1100228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26DA845-CF16-FD94-A66F-A468C72AA6BD}"/>
              </a:ext>
            </a:extLst>
          </p:cNvPr>
          <p:cNvPicPr>
            <a:picLocks noGrp="1" noChangeAspect="1"/>
          </p:cNvPicPr>
          <p:nvPr>
            <p:ph idx="1"/>
          </p:nvPr>
        </p:nvPicPr>
        <p:blipFill>
          <a:blip r:embed="rId3"/>
          <a:stretch>
            <a:fillRect/>
          </a:stretch>
        </p:blipFill>
        <p:spPr>
          <a:xfrm>
            <a:off x="800100" y="1624897"/>
            <a:ext cx="10591800" cy="3302820"/>
          </a:xfrm>
          <a:prstGeom prst="rect">
            <a:avLst/>
          </a:prstGeom>
        </p:spPr>
      </p:pic>
    </p:spTree>
    <p:extLst>
      <p:ext uri="{BB962C8B-B14F-4D97-AF65-F5344CB8AC3E}">
        <p14:creationId xmlns:p14="http://schemas.microsoft.com/office/powerpoint/2010/main" val="1137895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FDC9-7A80-FFA2-9102-7E5FB57BDC6F}"/>
              </a:ext>
            </a:extLst>
          </p:cNvPr>
          <p:cNvSpPr>
            <a:spLocks noGrp="1"/>
          </p:cNvSpPr>
          <p:nvPr>
            <p:ph type="title"/>
          </p:nvPr>
        </p:nvSpPr>
        <p:spPr/>
        <p:txBody>
          <a:bodyPr>
            <a:normAutofit/>
          </a:bodyPr>
          <a:lstStyle/>
          <a:p>
            <a:r>
              <a:rPr lang="en-US" sz="2800" b="1" u="sng" dirty="0"/>
              <a:t>Future Scope</a:t>
            </a:r>
            <a:endParaRPr lang="en-IN" sz="2800" b="1" u="sng" dirty="0"/>
          </a:p>
        </p:txBody>
      </p:sp>
      <p:pic>
        <p:nvPicPr>
          <p:cNvPr id="5" name="Content Placeholder 4">
            <a:extLst>
              <a:ext uri="{FF2B5EF4-FFF2-40B4-BE49-F238E27FC236}">
                <a16:creationId xmlns:a16="http://schemas.microsoft.com/office/drawing/2014/main" id="{AD49C0BB-9FD9-E114-EE25-EDA4CAD8920D}"/>
              </a:ext>
            </a:extLst>
          </p:cNvPr>
          <p:cNvPicPr>
            <a:picLocks noGrp="1" noChangeAspect="1"/>
          </p:cNvPicPr>
          <p:nvPr>
            <p:ph idx="1"/>
          </p:nvPr>
        </p:nvPicPr>
        <p:blipFill>
          <a:blip r:embed="rId4"/>
          <a:stretch>
            <a:fillRect/>
          </a:stretch>
        </p:blipFill>
        <p:spPr>
          <a:xfrm>
            <a:off x="2930013" y="1491328"/>
            <a:ext cx="5382497" cy="5001547"/>
          </a:xfrm>
          <a:prstGeom prst="rect">
            <a:avLst/>
          </a:prstGeom>
        </p:spPr>
      </p:pic>
    </p:spTree>
    <p:extLst>
      <p:ext uri="{BB962C8B-B14F-4D97-AF65-F5344CB8AC3E}">
        <p14:creationId xmlns:p14="http://schemas.microsoft.com/office/powerpoint/2010/main" val="73643081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3994D-691D-BB68-8692-92976409605C}"/>
              </a:ext>
            </a:extLst>
          </p:cNvPr>
          <p:cNvSpPr>
            <a:spLocks noGrp="1"/>
          </p:cNvSpPr>
          <p:nvPr>
            <p:ph type="title"/>
          </p:nvPr>
        </p:nvSpPr>
        <p:spPr>
          <a:xfrm>
            <a:off x="838200" y="-185481"/>
            <a:ext cx="10515600" cy="1325563"/>
          </a:xfrm>
        </p:spPr>
        <p:txBody>
          <a:bodyPr>
            <a:normAutofit/>
          </a:bodyPr>
          <a:lstStyle/>
          <a:p>
            <a:r>
              <a:rPr lang="en-US" sz="2800" b="1" u="sng" dirty="0"/>
              <a:t>Controller synthesis and analysis</a:t>
            </a:r>
            <a:endParaRPr lang="en-IN" sz="2800" b="1" u="sng" dirty="0"/>
          </a:p>
        </p:txBody>
      </p:sp>
      <p:sp>
        <p:nvSpPr>
          <p:cNvPr id="3" name="Content Placeholder 2">
            <a:extLst>
              <a:ext uri="{FF2B5EF4-FFF2-40B4-BE49-F238E27FC236}">
                <a16:creationId xmlns:a16="http://schemas.microsoft.com/office/drawing/2014/main" id="{345BAAC9-D5C2-F0F8-7A11-F1D26A188143}"/>
              </a:ext>
            </a:extLst>
          </p:cNvPr>
          <p:cNvSpPr>
            <a:spLocks noGrp="1"/>
          </p:cNvSpPr>
          <p:nvPr>
            <p:ph idx="1"/>
          </p:nvPr>
        </p:nvSpPr>
        <p:spPr>
          <a:xfrm>
            <a:off x="838200" y="865239"/>
            <a:ext cx="10515600" cy="5311724"/>
          </a:xfrm>
        </p:spPr>
        <p:txBody>
          <a:bodyPr>
            <a:normAutofit/>
          </a:bodyPr>
          <a:lstStyle/>
          <a:p>
            <a:r>
              <a:rPr lang="en-US" sz="2000" dirty="0"/>
              <a:t>Controller synthesis-:</a:t>
            </a:r>
          </a:p>
          <a:p>
            <a:pPr marL="0" indent="0">
              <a:buNone/>
            </a:pPr>
            <a:r>
              <a:rPr lang="en-US" sz="2000" dirty="0"/>
              <a: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a:t>
            </a:r>
          </a:p>
          <a:p>
            <a:pPr marL="0" indent="0">
              <a:buNone/>
            </a:pPr>
            <a:endParaRPr lang="en-US" sz="2000" dirty="0"/>
          </a:p>
          <a:p>
            <a:r>
              <a:rPr lang="en-US" sz="2000" dirty="0"/>
              <a:t>Boundedness analysis-:   </a:t>
            </a:r>
          </a:p>
          <a:p>
            <a:pPr marL="0" indent="0">
              <a:buNone/>
            </a:pPr>
            <a:r>
              <a:rPr lang="en-US" sz="2000" dirty="0"/>
              <a:t>                                                            </a:t>
            </a:r>
            <a:endParaRPr lang="en-IN" sz="2000" dirty="0"/>
          </a:p>
        </p:txBody>
      </p:sp>
      <p:pic>
        <p:nvPicPr>
          <p:cNvPr id="5" name="Picture 4">
            <a:extLst>
              <a:ext uri="{FF2B5EF4-FFF2-40B4-BE49-F238E27FC236}">
                <a16:creationId xmlns:a16="http://schemas.microsoft.com/office/drawing/2014/main" id="{4E43106E-D0F0-30E0-1081-E9C3460B0B99}"/>
              </a:ext>
            </a:extLst>
          </p:cNvPr>
          <p:cNvPicPr>
            <a:picLocks noChangeAspect="1"/>
          </p:cNvPicPr>
          <p:nvPr/>
        </p:nvPicPr>
        <p:blipFill>
          <a:blip r:embed="rId2"/>
          <a:stretch>
            <a:fillRect/>
          </a:stretch>
        </p:blipFill>
        <p:spPr>
          <a:xfrm>
            <a:off x="2576370" y="1215870"/>
            <a:ext cx="6449325" cy="1476581"/>
          </a:xfrm>
          <a:prstGeom prst="rect">
            <a:avLst/>
          </a:prstGeom>
        </p:spPr>
      </p:pic>
      <p:pic>
        <p:nvPicPr>
          <p:cNvPr id="7" name="Picture 6">
            <a:extLst>
              <a:ext uri="{FF2B5EF4-FFF2-40B4-BE49-F238E27FC236}">
                <a16:creationId xmlns:a16="http://schemas.microsoft.com/office/drawing/2014/main" id="{C45861A0-6090-41E6-C5AB-D1EF2FF8779E}"/>
              </a:ext>
            </a:extLst>
          </p:cNvPr>
          <p:cNvPicPr>
            <a:picLocks noChangeAspect="1"/>
          </p:cNvPicPr>
          <p:nvPr/>
        </p:nvPicPr>
        <p:blipFill>
          <a:blip r:embed="rId3"/>
          <a:stretch>
            <a:fillRect/>
          </a:stretch>
        </p:blipFill>
        <p:spPr>
          <a:xfrm>
            <a:off x="2576370" y="2789056"/>
            <a:ext cx="6134956" cy="1133633"/>
          </a:xfrm>
          <a:prstGeom prst="rect">
            <a:avLst/>
          </a:prstGeom>
        </p:spPr>
      </p:pic>
      <p:pic>
        <p:nvPicPr>
          <p:cNvPr id="9" name="Picture 8">
            <a:extLst>
              <a:ext uri="{FF2B5EF4-FFF2-40B4-BE49-F238E27FC236}">
                <a16:creationId xmlns:a16="http://schemas.microsoft.com/office/drawing/2014/main" id="{01AFFA63-8537-B192-CCC7-14F4DA4EF836}"/>
              </a:ext>
            </a:extLst>
          </p:cNvPr>
          <p:cNvPicPr>
            <a:picLocks noChangeAspect="1"/>
          </p:cNvPicPr>
          <p:nvPr/>
        </p:nvPicPr>
        <p:blipFill>
          <a:blip r:embed="rId4"/>
          <a:stretch>
            <a:fillRect/>
          </a:stretch>
        </p:blipFill>
        <p:spPr>
          <a:xfrm>
            <a:off x="2609712" y="4644566"/>
            <a:ext cx="6068272" cy="1629002"/>
          </a:xfrm>
          <a:prstGeom prst="rect">
            <a:avLst/>
          </a:prstGeom>
        </p:spPr>
      </p:pic>
    </p:spTree>
    <p:extLst>
      <p:ext uri="{BB962C8B-B14F-4D97-AF65-F5344CB8AC3E}">
        <p14:creationId xmlns:p14="http://schemas.microsoft.com/office/powerpoint/2010/main" val="3599038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DA0A7-2429-1A36-2779-3B7CA6EDEAD9}"/>
              </a:ext>
            </a:extLst>
          </p:cNvPr>
          <p:cNvSpPr>
            <a:spLocks noGrp="1"/>
          </p:cNvSpPr>
          <p:nvPr>
            <p:ph idx="1"/>
          </p:nvPr>
        </p:nvSpPr>
        <p:spPr/>
        <p:txBody>
          <a:bodyPr>
            <a:normAutofit/>
          </a:bodyPr>
          <a:lstStyle/>
          <a:p>
            <a:r>
              <a:rPr lang="en-US" sz="2000" dirty="0"/>
              <a:t>Equilibrium formations-:</a:t>
            </a:r>
          </a:p>
          <a:p>
            <a:pPr marL="0" indent="0">
              <a:buNone/>
            </a:pPr>
            <a:r>
              <a:rPr lang="en-US" sz="2000" dirty="0"/>
              <a:t>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a:t>
            </a:r>
            <a:endParaRPr lang="en-IN" sz="2000" dirty="0"/>
          </a:p>
        </p:txBody>
      </p:sp>
      <p:pic>
        <p:nvPicPr>
          <p:cNvPr id="5" name="Picture 4">
            <a:extLst>
              <a:ext uri="{FF2B5EF4-FFF2-40B4-BE49-F238E27FC236}">
                <a16:creationId xmlns:a16="http://schemas.microsoft.com/office/drawing/2014/main" id="{48042D44-F6A6-0C4F-3301-541869CEEF51}"/>
              </a:ext>
            </a:extLst>
          </p:cNvPr>
          <p:cNvPicPr>
            <a:picLocks noChangeAspect="1"/>
          </p:cNvPicPr>
          <p:nvPr/>
        </p:nvPicPr>
        <p:blipFill>
          <a:blip r:embed="rId2"/>
          <a:stretch>
            <a:fillRect/>
          </a:stretch>
        </p:blipFill>
        <p:spPr>
          <a:xfrm>
            <a:off x="2854774" y="2187776"/>
            <a:ext cx="6030167" cy="771633"/>
          </a:xfrm>
          <a:prstGeom prst="rect">
            <a:avLst/>
          </a:prstGeom>
        </p:spPr>
      </p:pic>
      <p:pic>
        <p:nvPicPr>
          <p:cNvPr id="7" name="Picture 6">
            <a:extLst>
              <a:ext uri="{FF2B5EF4-FFF2-40B4-BE49-F238E27FC236}">
                <a16:creationId xmlns:a16="http://schemas.microsoft.com/office/drawing/2014/main" id="{F50AE11D-8EB5-A561-E3D4-0676E79AA696}"/>
              </a:ext>
            </a:extLst>
          </p:cNvPr>
          <p:cNvPicPr>
            <a:picLocks noChangeAspect="1"/>
          </p:cNvPicPr>
          <p:nvPr/>
        </p:nvPicPr>
        <p:blipFill>
          <a:blip r:embed="rId3"/>
          <a:stretch>
            <a:fillRect/>
          </a:stretch>
        </p:blipFill>
        <p:spPr>
          <a:xfrm>
            <a:off x="2854774" y="3005078"/>
            <a:ext cx="6011114" cy="847843"/>
          </a:xfrm>
          <a:prstGeom prst="rect">
            <a:avLst/>
          </a:prstGeom>
        </p:spPr>
      </p:pic>
      <p:pic>
        <p:nvPicPr>
          <p:cNvPr id="9" name="Picture 8">
            <a:extLst>
              <a:ext uri="{FF2B5EF4-FFF2-40B4-BE49-F238E27FC236}">
                <a16:creationId xmlns:a16="http://schemas.microsoft.com/office/drawing/2014/main" id="{E336C58B-63E5-5C9C-D9C8-237A88E26D8F}"/>
              </a:ext>
            </a:extLst>
          </p:cNvPr>
          <p:cNvPicPr>
            <a:picLocks noChangeAspect="1"/>
          </p:cNvPicPr>
          <p:nvPr/>
        </p:nvPicPr>
        <p:blipFill>
          <a:blip r:embed="rId4"/>
          <a:stretch>
            <a:fillRect/>
          </a:stretch>
        </p:blipFill>
        <p:spPr>
          <a:xfrm>
            <a:off x="2854774" y="3806079"/>
            <a:ext cx="5353797" cy="1524213"/>
          </a:xfrm>
          <a:prstGeom prst="rect">
            <a:avLst/>
          </a:prstGeom>
        </p:spPr>
      </p:pic>
    </p:spTree>
    <p:extLst>
      <p:ext uri="{BB962C8B-B14F-4D97-AF65-F5344CB8AC3E}">
        <p14:creationId xmlns:p14="http://schemas.microsoft.com/office/powerpoint/2010/main" val="1836745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7F330A-5A0C-43D2-4649-BFD969767C37}"/>
              </a:ext>
            </a:extLst>
          </p:cNvPr>
          <p:cNvSpPr>
            <a:spLocks noGrp="1"/>
          </p:cNvSpPr>
          <p:nvPr>
            <p:ph idx="1"/>
          </p:nvPr>
        </p:nvSpPr>
        <p:spPr/>
        <p:txBody>
          <a:bodyPr/>
          <a:lstStyle/>
          <a:p>
            <a:pPr marL="0" indent="0">
              <a:buNone/>
            </a:pPr>
            <a:r>
              <a:rPr lang="en-US" dirty="0"/>
              <a:t> </a:t>
            </a:r>
          </a:p>
          <a:p>
            <a:endParaRPr lang="en-US" sz="2000" dirty="0"/>
          </a:p>
          <a:p>
            <a:r>
              <a:rPr lang="en-US" sz="2000" dirty="0"/>
              <a:t>Stability Analysis-:</a:t>
            </a:r>
          </a:p>
          <a:p>
            <a:pPr marL="0" indent="0">
              <a:buNone/>
            </a:pPr>
            <a:r>
              <a:rPr lang="en-US" sz="2000" dirty="0"/>
              <a:t> </a:t>
            </a:r>
            <a:endParaRPr lang="en-IN" sz="2000" dirty="0"/>
          </a:p>
        </p:txBody>
      </p:sp>
      <p:pic>
        <p:nvPicPr>
          <p:cNvPr id="5" name="Picture 4">
            <a:extLst>
              <a:ext uri="{FF2B5EF4-FFF2-40B4-BE49-F238E27FC236}">
                <a16:creationId xmlns:a16="http://schemas.microsoft.com/office/drawing/2014/main" id="{59999DAC-7378-8D8C-CD72-C0678C2E60E5}"/>
              </a:ext>
            </a:extLst>
          </p:cNvPr>
          <p:cNvPicPr>
            <a:picLocks noChangeAspect="1"/>
          </p:cNvPicPr>
          <p:nvPr/>
        </p:nvPicPr>
        <p:blipFill>
          <a:blip r:embed="rId2"/>
          <a:stretch>
            <a:fillRect/>
          </a:stretch>
        </p:blipFill>
        <p:spPr>
          <a:xfrm>
            <a:off x="2718915" y="807546"/>
            <a:ext cx="6487430" cy="1571844"/>
          </a:xfrm>
          <a:prstGeom prst="rect">
            <a:avLst/>
          </a:prstGeom>
        </p:spPr>
      </p:pic>
      <p:pic>
        <p:nvPicPr>
          <p:cNvPr id="7" name="Picture 6">
            <a:extLst>
              <a:ext uri="{FF2B5EF4-FFF2-40B4-BE49-F238E27FC236}">
                <a16:creationId xmlns:a16="http://schemas.microsoft.com/office/drawing/2014/main" id="{4DFAFE73-66C4-8F01-22E7-E55C8F665EB9}"/>
              </a:ext>
            </a:extLst>
          </p:cNvPr>
          <p:cNvPicPr>
            <a:picLocks noChangeAspect="1"/>
          </p:cNvPicPr>
          <p:nvPr/>
        </p:nvPicPr>
        <p:blipFill>
          <a:blip r:embed="rId3"/>
          <a:stretch>
            <a:fillRect/>
          </a:stretch>
        </p:blipFill>
        <p:spPr>
          <a:xfrm>
            <a:off x="2852283" y="3325924"/>
            <a:ext cx="6220693" cy="2724530"/>
          </a:xfrm>
          <a:prstGeom prst="rect">
            <a:avLst/>
          </a:prstGeom>
        </p:spPr>
      </p:pic>
    </p:spTree>
    <p:extLst>
      <p:ext uri="{BB962C8B-B14F-4D97-AF65-F5344CB8AC3E}">
        <p14:creationId xmlns:p14="http://schemas.microsoft.com/office/powerpoint/2010/main" val="3753451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A59EE28-6FA5-EBCB-72C9-70ACD128E234}"/>
              </a:ext>
            </a:extLst>
          </p:cNvPr>
          <p:cNvPicPr>
            <a:picLocks noGrp="1" noChangeAspect="1"/>
          </p:cNvPicPr>
          <p:nvPr>
            <p:ph idx="1"/>
          </p:nvPr>
        </p:nvPicPr>
        <p:blipFill>
          <a:blip r:embed="rId2"/>
          <a:stretch>
            <a:fillRect/>
          </a:stretch>
        </p:blipFill>
        <p:spPr>
          <a:xfrm>
            <a:off x="2980890" y="1828576"/>
            <a:ext cx="6230219" cy="3200847"/>
          </a:xfrm>
          <a:prstGeom prst="rect">
            <a:avLst/>
          </a:prstGeom>
        </p:spPr>
      </p:pic>
    </p:spTree>
    <p:extLst>
      <p:ext uri="{BB962C8B-B14F-4D97-AF65-F5344CB8AC3E}">
        <p14:creationId xmlns:p14="http://schemas.microsoft.com/office/powerpoint/2010/main" val="3180610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600D2-C418-F08D-CA74-1BA355B6B85A}"/>
              </a:ext>
            </a:extLst>
          </p:cNvPr>
          <p:cNvSpPr>
            <a:spLocks noGrp="1"/>
          </p:cNvSpPr>
          <p:nvPr>
            <p:ph type="title"/>
          </p:nvPr>
        </p:nvSpPr>
        <p:spPr>
          <a:xfrm>
            <a:off x="838200" y="1"/>
            <a:ext cx="10515600" cy="1278194"/>
          </a:xfrm>
        </p:spPr>
        <p:txBody>
          <a:bodyPr>
            <a:normAutofit/>
          </a:bodyPr>
          <a:lstStyle/>
          <a:p>
            <a:r>
              <a:rPr lang="en-US" sz="2800" b="1" u="sng" dirty="0"/>
              <a:t>Simulations</a:t>
            </a:r>
            <a:endParaRPr lang="en-IN" sz="2800" b="1" u="sng" dirty="0"/>
          </a:p>
        </p:txBody>
      </p:sp>
      <p:pic>
        <p:nvPicPr>
          <p:cNvPr id="5" name="Content Placeholder 4">
            <a:extLst>
              <a:ext uri="{FF2B5EF4-FFF2-40B4-BE49-F238E27FC236}">
                <a16:creationId xmlns:a16="http://schemas.microsoft.com/office/drawing/2014/main" id="{DF5BE00F-E13A-5D79-F2DB-CB2CC1B5F7E6}"/>
              </a:ext>
            </a:extLst>
          </p:cNvPr>
          <p:cNvPicPr>
            <a:picLocks noGrp="1" noChangeAspect="1"/>
          </p:cNvPicPr>
          <p:nvPr>
            <p:ph idx="1"/>
          </p:nvPr>
        </p:nvPicPr>
        <p:blipFill>
          <a:blip r:embed="rId2"/>
          <a:stretch>
            <a:fillRect/>
          </a:stretch>
        </p:blipFill>
        <p:spPr>
          <a:xfrm>
            <a:off x="4919679" y="548509"/>
            <a:ext cx="6344535" cy="2619741"/>
          </a:xfrm>
          <a:prstGeom prst="rect">
            <a:avLst/>
          </a:prstGeom>
        </p:spPr>
      </p:pic>
      <p:pic>
        <p:nvPicPr>
          <p:cNvPr id="7" name="Picture 6">
            <a:extLst>
              <a:ext uri="{FF2B5EF4-FFF2-40B4-BE49-F238E27FC236}">
                <a16:creationId xmlns:a16="http://schemas.microsoft.com/office/drawing/2014/main" id="{EB6A3011-BDC2-FBA0-2DAD-9AABEBFDEC97}"/>
              </a:ext>
            </a:extLst>
          </p:cNvPr>
          <p:cNvPicPr>
            <a:picLocks noChangeAspect="1"/>
          </p:cNvPicPr>
          <p:nvPr/>
        </p:nvPicPr>
        <p:blipFill>
          <a:blip r:embed="rId3"/>
          <a:stretch>
            <a:fillRect/>
          </a:stretch>
        </p:blipFill>
        <p:spPr>
          <a:xfrm>
            <a:off x="606114" y="3168250"/>
            <a:ext cx="5906324" cy="3591426"/>
          </a:xfrm>
          <a:prstGeom prst="rect">
            <a:avLst/>
          </a:prstGeom>
        </p:spPr>
      </p:pic>
    </p:spTree>
    <p:extLst>
      <p:ext uri="{BB962C8B-B14F-4D97-AF65-F5344CB8AC3E}">
        <p14:creationId xmlns:p14="http://schemas.microsoft.com/office/powerpoint/2010/main" val="2165401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123</Words>
  <Application>Microsoft Office PowerPoint</Application>
  <PresentationFormat>Widescreen</PresentationFormat>
  <Paragraphs>30</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Distributed control for uniform circumnavigation of ring-coupled unicycles✩</vt:lpstr>
      <vt:lpstr>PowerPoint Presentation</vt:lpstr>
      <vt:lpstr>Future Scope</vt:lpstr>
      <vt:lpstr>Controller synthesis and analysis</vt:lpstr>
      <vt:lpstr>PowerPoint Presentation</vt:lpstr>
      <vt:lpstr>PowerPoint Presentation</vt:lpstr>
      <vt:lpstr>PowerPoint Presentation</vt:lpstr>
      <vt:lpstr>Simulations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Yuvraj Tomar</dc:creator>
  <cp:lastModifiedBy>Yuvraj Tomar</cp:lastModifiedBy>
  <cp:revision>1</cp:revision>
  <dcterms:created xsi:type="dcterms:W3CDTF">2026-02-11T17:02:28Z</dcterms:created>
  <dcterms:modified xsi:type="dcterms:W3CDTF">2026-02-11T17:02:29Z</dcterms:modified>
</cp:coreProperties>
</file>